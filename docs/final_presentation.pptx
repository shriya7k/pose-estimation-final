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Vision-Based Precision Pose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Autonomous Formation Flying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Machine Learning Mini-Project | UE24CS352A</a:t>
            </a:r>
          </a:p>
          <a:p>
            <a:pPr>
              <a:spcAft>
                <a:spcPts val="1000"/>
              </a:spcAft>
              <a:defRPr sz="2200"/>
            </a:pPr>
            <a:r>
              <a:t>Shashank D — PES1UG24CS433</a:t>
            </a:r>
          </a:p>
          <a:p>
            <a:pPr>
              <a:spcAft>
                <a:spcPts val="1000"/>
              </a:spcAft>
              <a:defRPr sz="2200"/>
            </a:pPr>
            <a:r>
              <a:t>Shriya K — PES1UG24CS448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Estimate the relative pose of a leader aircraft from observations obtained by a follower aircraft's monocular camera.</a:t>
            </a:r>
          </a:p>
          <a:p>
            <a:pPr>
              <a:spcAft>
                <a:spcPts val="1000"/>
              </a:spcAft>
              <a:defRPr sz="2000"/>
            </a:pPr>
            <a:r>
              <a:t>Pose variables considered in the discrete estimator: relative X, Y, Z position and roll.</a:t>
            </a:r>
          </a:p>
          <a:p>
            <a:pPr>
              <a:spcAft>
                <a:spcPts val="1000"/>
              </a:spcAft>
              <a:defRPr sz="2000"/>
            </a:pPr>
            <a:r>
              <a:t>The system combines learned coarse estimation with model-based geometric refinement.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Reference Approach and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Reference approach: structural feature measurements → ANN pose classification → particle-filter refinement.</a:t>
            </a:r>
          </a:p>
          <a:p>
            <a:pPr>
              <a:spcAft>
                <a:spcPts val="1000"/>
              </a:spcAft>
              <a:defRPr sz="2000"/>
            </a:pPr>
            <a:r>
              <a:t>The ANN provides a fast but discrete pose estimate over 4,800 pose classes.</a:t>
            </a:r>
          </a:p>
          <a:p>
            <a:pPr>
              <a:spcAft>
                <a:spcPts val="1000"/>
              </a:spcAft>
              <a:defRPr sz="2000"/>
            </a:pPr>
            <a:r>
              <a:t>Particle filtering incorporates motion and feature-reprojection likelihood, but is computationally expensive.</a:t>
            </a:r>
          </a:p>
          <a:p>
            <a:pPr>
              <a:spcAft>
                <a:spcPts val="1000"/>
              </a:spcAft>
              <a:defRPr sz="2000"/>
            </a:pPr>
            <a:r>
              <a:t>Our extension adds continuous geometric refinement using Perspective-n-Point (PnP).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Proposed System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2103120"/>
            <a:ext cx="132588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Synthetic</a:t>
            </a:r>
          </a:p>
          <a:p>
            <a:pPr algn="ctr">
              <a:defRPr sz="1300" b="1"/>
            </a:pPr>
            <a:r>
              <a:t>Aircraft</a:t>
            </a:r>
          </a:p>
        </p:txBody>
      </p:sp>
      <p:sp>
        <p:nvSpPr>
          <p:cNvPr id="4" name="Chevron 3"/>
          <p:cNvSpPr/>
          <p:nvPr/>
        </p:nvSpPr>
        <p:spPr>
          <a:xfrm>
            <a:off x="1627631" y="2450591"/>
            <a:ext cx="210312" cy="438912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55648" y="2103120"/>
            <a:ext cx="132588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Gimbaled</a:t>
            </a:r>
          </a:p>
          <a:p>
            <a:pPr algn="ctr">
              <a:defRPr sz="1300" b="1"/>
            </a:pPr>
            <a:r>
              <a:t>Camera</a:t>
            </a:r>
          </a:p>
        </p:txBody>
      </p:sp>
      <p:sp>
        <p:nvSpPr>
          <p:cNvPr id="6" name="Chevron 5"/>
          <p:cNvSpPr/>
          <p:nvPr/>
        </p:nvSpPr>
        <p:spPr>
          <a:xfrm>
            <a:off x="3063240" y="2450591"/>
            <a:ext cx="210312" cy="438912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91256" y="2103120"/>
            <a:ext cx="132588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14 × 2D</a:t>
            </a:r>
          </a:p>
          <a:p>
            <a:pPr algn="ctr">
              <a:defRPr sz="1300" b="1"/>
            </a:pPr>
            <a:r>
              <a:t>Keypoints</a:t>
            </a:r>
          </a:p>
        </p:txBody>
      </p:sp>
      <p:sp>
        <p:nvSpPr>
          <p:cNvPr id="8" name="Chevron 7"/>
          <p:cNvSpPr/>
          <p:nvPr/>
        </p:nvSpPr>
        <p:spPr>
          <a:xfrm>
            <a:off x="4498848" y="2450591"/>
            <a:ext cx="210312" cy="438912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26863" y="2103120"/>
            <a:ext cx="132588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42-D</a:t>
            </a:r>
          </a:p>
          <a:p>
            <a:pPr algn="ctr">
              <a:defRPr sz="1300" b="1"/>
            </a:pPr>
            <a:r>
              <a:t>Features</a:t>
            </a:r>
          </a:p>
        </p:txBody>
      </p:sp>
      <p:sp>
        <p:nvSpPr>
          <p:cNvPr id="10" name="Chevron 9"/>
          <p:cNvSpPr/>
          <p:nvPr/>
        </p:nvSpPr>
        <p:spPr>
          <a:xfrm>
            <a:off x="5934455" y="2450591"/>
            <a:ext cx="210312" cy="438912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62471" y="2103120"/>
            <a:ext cx="132588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ANN</a:t>
            </a:r>
          </a:p>
          <a:p>
            <a:pPr algn="ctr">
              <a:defRPr sz="1300" b="1"/>
            </a:pPr>
            <a:r>
              <a:t>Classifier</a:t>
            </a:r>
          </a:p>
        </p:txBody>
      </p:sp>
      <p:sp>
        <p:nvSpPr>
          <p:cNvPr id="12" name="Chevron 11"/>
          <p:cNvSpPr/>
          <p:nvPr/>
        </p:nvSpPr>
        <p:spPr>
          <a:xfrm>
            <a:off x="7370063" y="2450591"/>
            <a:ext cx="210312" cy="438912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98079" y="2103120"/>
            <a:ext cx="132588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Particle</a:t>
            </a:r>
          </a:p>
          <a:p>
            <a:pPr algn="ctr">
              <a:defRPr sz="1300" b="1"/>
            </a:pPr>
            <a:r>
              <a:t>Filter</a:t>
            </a:r>
          </a:p>
        </p:txBody>
      </p:sp>
      <p:sp>
        <p:nvSpPr>
          <p:cNvPr id="14" name="Chevron 13"/>
          <p:cNvSpPr/>
          <p:nvPr/>
        </p:nvSpPr>
        <p:spPr>
          <a:xfrm>
            <a:off x="8805672" y="2450591"/>
            <a:ext cx="210312" cy="438912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33687" y="2103120"/>
            <a:ext cx="132588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PnP</a:t>
            </a:r>
          </a:p>
          <a:p>
            <a:pPr algn="ctr">
              <a:defRPr sz="1300" b="1"/>
            </a:pPr>
            <a:r>
              <a:t>Refinement</a:t>
            </a:r>
          </a:p>
        </p:txBody>
      </p:sp>
      <p:sp>
        <p:nvSpPr>
          <p:cNvPr id="16" name="Chevron 15"/>
          <p:cNvSpPr/>
          <p:nvPr/>
        </p:nvSpPr>
        <p:spPr>
          <a:xfrm>
            <a:off x="10241279" y="2450591"/>
            <a:ext cx="210312" cy="438912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69295" y="2103120"/>
            <a:ext cx="132588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Final</a:t>
            </a:r>
          </a:p>
          <a:p>
            <a:pPr algn="ctr">
              <a:defRPr sz="1300" b="1"/>
            </a:pPr>
            <a:r>
              <a:t>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Core idea: ANN supplies a coarse estimate; PnP converts 2D–3D correspondences into a continuous pose refinement.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Synthetic Dataset and Feature Representation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14 predefined aircraft structural keypoints are projected into the camera image.</a:t>
            </a:r>
          </a:p>
          <a:p>
            <a:pPr>
              <a:spcAft>
                <a:spcPts val="1000"/>
              </a:spcAft>
              <a:defRPr sz="2000"/>
            </a:pPr>
            <a:r>
              <a:t>Each keypoint contributes (u, v, occlusion), giving 14 × 3 = 42 input features.</a:t>
            </a:r>
          </a:p>
          <a:p>
            <a:pPr>
              <a:spcAft>
                <a:spcPts val="1000"/>
              </a:spcAft>
              <a:defRPr sz="2000"/>
            </a:pPr>
            <a:r>
              <a:t>The pose space is discretized into 10 X bins × 10 Y bins × 8 Z bins × 6 roll bins = 4,800 classes.</a:t>
            </a:r>
          </a:p>
          <a:p>
            <a:pPr>
              <a:spcAft>
                <a:spcPts val="1000"/>
              </a:spcAft>
              <a:defRPr sz="2000"/>
            </a:pPr>
            <a:r>
              <a:t>Synthetic projection includes camera geometry, visibility/occlusion checks, and pixel noise.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ANN Pose Classifier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Input: 42-dimensional feature vector.</a:t>
            </a:r>
          </a:p>
          <a:p>
            <a:pPr>
              <a:spcAft>
                <a:spcPts val="1000"/>
              </a:spcAft>
              <a:defRPr sz="2000"/>
            </a:pPr>
            <a:r>
              <a:t>Architecture: 42 → 100 → 100 → 4,800.</a:t>
            </a:r>
          </a:p>
          <a:p>
            <a:pPr>
              <a:spcAft>
                <a:spcPts val="1000"/>
              </a:spcAft>
              <a:defRPr sz="2000"/>
            </a:pPr>
            <a:r>
              <a:t>Activation: ReLU.</a:t>
            </a:r>
          </a:p>
          <a:p>
            <a:pPr>
              <a:spcAft>
                <a:spcPts val="1000"/>
              </a:spcAft>
              <a:defRPr sz="2000"/>
            </a:pPr>
            <a:r>
              <a:t>Output: 4,800-way softmax pose classification.</a:t>
            </a:r>
          </a:p>
          <a:p>
            <a:pPr>
              <a:spcAft>
                <a:spcPts val="1000"/>
              </a:spcAft>
              <a:defRPr sz="2000"/>
            </a:pPr>
            <a:r>
              <a:t>Training: cross-entropy loss with Adam optimization.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5074920"/>
            <a:ext cx="9144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42</a:t>
            </a:r>
          </a:p>
        </p:txBody>
      </p:sp>
      <p:sp>
        <p:nvSpPr>
          <p:cNvPr id="5" name="Chevron 4"/>
          <p:cNvSpPr/>
          <p:nvPr/>
        </p:nvSpPr>
        <p:spPr>
          <a:xfrm>
            <a:off x="3822191" y="5184648"/>
            <a:ext cx="32004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80560" y="5074920"/>
            <a:ext cx="109728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100</a:t>
            </a:r>
          </a:p>
        </p:txBody>
      </p:sp>
      <p:sp>
        <p:nvSpPr>
          <p:cNvPr id="7" name="Chevron 6"/>
          <p:cNvSpPr/>
          <p:nvPr/>
        </p:nvSpPr>
        <p:spPr>
          <a:xfrm>
            <a:off x="5742432" y="5184648"/>
            <a:ext cx="32004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5074920"/>
            <a:ext cx="109728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100</a:t>
            </a:r>
          </a:p>
        </p:txBody>
      </p:sp>
      <p:sp>
        <p:nvSpPr>
          <p:cNvPr id="9" name="Chevron 8"/>
          <p:cNvSpPr/>
          <p:nvPr/>
        </p:nvSpPr>
        <p:spPr>
          <a:xfrm>
            <a:off x="7479792" y="5184648"/>
            <a:ext cx="32004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55279" y="5074920"/>
            <a:ext cx="128016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4800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Particle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Initialize particles around the ANN-derived pose estimate.</a:t>
            </a:r>
          </a:p>
          <a:p>
            <a:pPr>
              <a:spcAft>
                <a:spcPts val="1000"/>
              </a:spcAft>
              <a:defRPr sz="2000"/>
            </a:pPr>
            <a:r>
              <a:t>Propagate particles using the simulated relative-motion model.</a:t>
            </a:r>
          </a:p>
          <a:p>
            <a:pPr>
              <a:spcAft>
                <a:spcPts val="1000"/>
              </a:spcAft>
              <a:defRPr sz="2000"/>
            </a:pPr>
            <a:r>
              <a:t>Project aircraft keypoints for each particle.</a:t>
            </a:r>
          </a:p>
          <a:p>
            <a:pPr>
              <a:spcAft>
                <a:spcPts val="1000"/>
              </a:spcAft>
              <a:defRPr sz="2000"/>
            </a:pPr>
            <a:r>
              <a:t>Weight particles using feature reprojection error.</a:t>
            </a:r>
          </a:p>
          <a:p>
            <a:pPr>
              <a:spcAft>
                <a:spcPts val="1000"/>
              </a:spcAft>
              <a:defRPr sz="2000"/>
            </a:pPr>
            <a:r>
              <a:t>Resample particles according to their likelihood.</a:t>
            </a:r>
          </a:p>
          <a:p>
            <a:pPr>
              <a:spcAft>
                <a:spcPts val="1000"/>
              </a:spcAft>
              <a:defRPr sz="2000"/>
            </a:pPr>
            <a:r>
              <a:t>The benchmark shows that PF improves some pose components but increases overall positional RMSE in this setup.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PnP Refinement: Proposed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Use known 3D aircraft keypoints and detected 2D image correspondences.</a:t>
            </a:r>
          </a:p>
          <a:p>
            <a:pPr>
              <a:spcAft>
                <a:spcPts val="1000"/>
              </a:spcAft>
              <a:defRPr sz="2000"/>
            </a:pPr>
            <a:r>
              <a:t>Warm-start PnP from the coarse pose.</a:t>
            </a:r>
          </a:p>
          <a:p>
            <a:pPr>
              <a:spcAft>
                <a:spcPts val="1000"/>
              </a:spcAft>
              <a:defRPr sz="2000"/>
            </a:pPr>
            <a:r>
              <a:t>Apply OpenCV iterative solvePnP refinement.</a:t>
            </a:r>
          </a:p>
          <a:p>
            <a:pPr>
              <a:spcAft>
                <a:spcPts val="1000"/>
              </a:spcAft>
              <a:defRPr sz="2000"/>
            </a:pPr>
            <a:r>
              <a:t>Convert the optimized camera-frame solution back to the follower-body frame.</a:t>
            </a:r>
          </a:p>
          <a:p>
            <a:pPr>
              <a:spcAft>
                <a:spcPts val="1000"/>
              </a:spcAft>
              <a:defRPr sz="2000"/>
            </a:pPr>
            <a:r>
              <a:t>Output: continuous 6-DOF pose estimate; the current benchmark reports position and roll metrics.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Quantitative Benchmark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10-second formation-flight trajectory, 100 steps at 10 Hz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508760"/>
          <a:ext cx="115214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Method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Pos RMSE (m)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Pos Median (m)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Pos Max (m)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Roll RMSE (°)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Latency (ms)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FPS</a:t>
                      </a:r>
                    </a:p>
                  </a:txBody>
                  <a:tcPr anchor="t"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ANN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22.549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17.402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40.342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10.75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0.50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1986.4</a:t>
                      </a:r>
                    </a:p>
                  </a:txBody>
                  <a:tcPr anchor="t"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ANN + PF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24.469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23.865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36.943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3.26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220.41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4.5</a:t>
                      </a:r>
                    </a:p>
                  </a:txBody>
                  <a:tcPr anchor="t"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ANN + PnP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0.644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0.380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1.888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0.54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0.41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2416.9</a:t>
                      </a:r>
                    </a:p>
                  </a:txBody>
                  <a:tcPr anchor="t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572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/>
            </a:pPr>
            <a:r>
              <a:t>PnP provides the strongest continuous-pose result in the current simulated benchmark.</a:t>
            </a:r>
          </a:p>
          <a:p>
            <a:pPr>
              <a:spcAft>
                <a:spcPts val="1000"/>
              </a:spcAft>
              <a:defRPr sz="1400"/>
            </a:pPr>
            <a:r>
              <a:t>The benchmark assumes a gimbaled camera whose orientation tracks the target line of sight; this simulation assumption should be stated explicitly.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ANN provides a fast coarse pose estimate over a large discrete pose space.</a:t>
            </a:r>
          </a:p>
          <a:p>
            <a:pPr>
              <a:spcAft>
                <a:spcPts val="1000"/>
              </a:spcAft>
              <a:defRPr sz="2000"/>
            </a:pPr>
            <a:r>
              <a:t>Particle filtering adds temporal/model-based refinement but has high computational cost.</a:t>
            </a:r>
          </a:p>
          <a:p>
            <a:pPr>
              <a:spcAft>
                <a:spcPts val="1000"/>
              </a:spcAft>
              <a:defRPr sz="2000"/>
            </a:pPr>
            <a:r>
              <a:t>PnP provides a low-latency geometric refinement from 2D–3D correspondences.</a:t>
            </a:r>
          </a:p>
          <a:p>
            <a:pPr>
              <a:spcAft>
                <a:spcPts val="1000"/>
              </a:spcAft>
              <a:defRPr sz="2000"/>
            </a:pPr>
            <a:r>
              <a:t>Current system starts from structural feature measurements rather than raw-image feature detection.</a:t>
            </a:r>
          </a:p>
          <a:p>
            <a:pPr>
              <a:spcAft>
                <a:spcPts val="1000"/>
              </a:spcAft>
              <a:defRPr sz="2000"/>
            </a:pPr>
            <a:r>
              <a:t>Future work: raw-image keypoint detection, real flight imagery, robust outlier rejection, uncertainty estimation, and bundle adjustment.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